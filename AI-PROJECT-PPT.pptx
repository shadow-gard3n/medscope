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nva Sans Bold" panose="020B0803030501040103" pitchFamily="34" charset="0"/>
      <p:regular r:id="rId10"/>
      <p:bold r:id="rId11"/>
    </p:embeddedFont>
    <p:embeddedFont>
      <p:font typeface="Codec Pro" pitchFamily="2" charset="0"/>
      <p:regular r:id="rId12"/>
    </p:embeddedFont>
    <p:embeddedFont>
      <p:font typeface="Codec Pro ExtraBold" pitchFamily="2" charset="0"/>
      <p:regular r:id="rId13"/>
      <p:bold r:id="rId14"/>
    </p:embeddedFont>
    <p:embeddedFont>
      <p:font typeface="Codec Pro ExtraBold Bold" pitchFamily="2" charset="0"/>
      <p:regular r:id="rId15"/>
      <p:bold r:id="rId16"/>
    </p:embeddedFont>
    <p:embeddedFont>
      <p:font typeface="Montserrat Light" panose="00000400000000000000" pitchFamily="2" charset="77"/>
      <p:regular r:id="rId17"/>
      <p:italic r:id="rId18"/>
    </p:embeddedFont>
    <p:embeddedFont>
      <p:font typeface="Montserrat Light Bold" pitchFamily="2" charset="77"/>
      <p:regular r:id="rId19"/>
      <p:bold r:id="rId20"/>
    </p:embeddedFont>
    <p:embeddedFont>
      <p:font typeface="Noto Sans" panose="020B0502040504020204" pitchFamily="34" charset="0"/>
      <p:regular r:id="rId21"/>
      <p:bold r:id="rId22"/>
      <p:italic r:id="rId23"/>
      <p:boldItalic r:id="rId24"/>
    </p:embeddedFont>
    <p:embeddedFont>
      <p:font typeface="Noto Sans Bold" panose="020B0802040504020204" pitchFamily="34" charset="0"/>
      <p:regular r:id="rId25"/>
      <p:bold r:id="rId26"/>
    </p:embeddedFont>
    <p:embeddedFont>
      <p:font typeface="TAN Tangkiwood" pitchFamily="2" charset="77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71" autoAdjust="0"/>
    <p:restoredTop sz="94549" autoAdjust="0"/>
  </p:normalViewPr>
  <p:slideViewPr>
    <p:cSldViewPr>
      <p:cViewPr varScale="1">
        <p:scale>
          <a:sx n="78" d="100"/>
          <a:sy n="78" d="100"/>
        </p:scale>
        <p:origin x="200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font" Target="fonts/font18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47927" y="1390894"/>
            <a:ext cx="175627" cy="6291840"/>
            <a:chOff x="0" y="0"/>
            <a:chExt cx="36475" cy="13067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475" cy="1306712"/>
            </a:xfrm>
            <a:custGeom>
              <a:avLst/>
              <a:gdLst/>
              <a:ahLst/>
              <a:cxnLst/>
              <a:rect l="l" t="t" r="r" b="b"/>
              <a:pathLst>
                <a:path w="36475" h="1306712">
                  <a:moveTo>
                    <a:pt x="0" y="0"/>
                  </a:moveTo>
                  <a:lnTo>
                    <a:pt x="36475" y="0"/>
                  </a:lnTo>
                  <a:lnTo>
                    <a:pt x="36475" y="1306712"/>
                  </a:lnTo>
                  <a:lnTo>
                    <a:pt x="0" y="13067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36475" cy="13257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47070" y="3294689"/>
            <a:ext cx="16067099" cy="4991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554"/>
              </a:lnSpc>
            </a:pPr>
            <a:r>
              <a:rPr lang="en-US" sz="9628" dirty="0">
                <a:solidFill>
                  <a:srgbClr val="FFFFFF"/>
                </a:solidFill>
                <a:latin typeface="Codec Pro ExtraBold"/>
              </a:rPr>
              <a:t>INTELLIGENT MEDICAL INSIGHTS</a:t>
            </a:r>
          </a:p>
          <a:p>
            <a:pPr>
              <a:lnSpc>
                <a:spcPts val="4690"/>
              </a:lnSpc>
            </a:pPr>
            <a:endParaRPr lang="en-US" sz="9628" dirty="0">
              <a:solidFill>
                <a:srgbClr val="FFFFFF"/>
              </a:solidFill>
              <a:latin typeface="Codec Pro ExtraBold"/>
            </a:endParaRPr>
          </a:p>
          <a:p>
            <a:pPr>
              <a:lnSpc>
                <a:spcPts val="11554"/>
              </a:lnSpc>
            </a:pPr>
            <a:endParaRPr lang="en-US" sz="9628" dirty="0">
              <a:solidFill>
                <a:srgbClr val="FFFFFF"/>
              </a:solidFill>
              <a:latin typeface="Codec Pro Extra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47070" y="1181344"/>
            <a:ext cx="13027491" cy="2182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885"/>
              </a:lnSpc>
            </a:pPr>
            <a:r>
              <a:rPr lang="en-US" sz="14904" dirty="0">
                <a:solidFill>
                  <a:srgbClr val="FFFFFF"/>
                </a:solidFill>
                <a:latin typeface="Codec Pro ExtraBold"/>
              </a:rPr>
              <a:t>MEDSCOPE:</a:t>
            </a:r>
          </a:p>
        </p:txBody>
      </p:sp>
      <p:sp>
        <p:nvSpPr>
          <p:cNvPr id="8" name="Freeform 8"/>
          <p:cNvSpPr/>
          <p:nvPr/>
        </p:nvSpPr>
        <p:spPr>
          <a:xfrm>
            <a:off x="11390906" y="6134546"/>
            <a:ext cx="9856051" cy="8730429"/>
          </a:xfrm>
          <a:custGeom>
            <a:avLst/>
            <a:gdLst/>
            <a:ahLst/>
            <a:cxnLst/>
            <a:rect l="l" t="t" r="r" b="b"/>
            <a:pathLst>
              <a:path w="9856051" h="8730429">
                <a:moveTo>
                  <a:pt x="0" y="0"/>
                </a:moveTo>
                <a:lnTo>
                  <a:pt x="9856051" y="0"/>
                </a:lnTo>
                <a:lnTo>
                  <a:pt x="9856051" y="8730429"/>
                </a:lnTo>
                <a:lnTo>
                  <a:pt x="0" y="8730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4219488" y="-4493967"/>
            <a:ext cx="8438976" cy="7475193"/>
          </a:xfrm>
          <a:custGeom>
            <a:avLst/>
            <a:gdLst/>
            <a:ahLst/>
            <a:cxnLst/>
            <a:rect l="l" t="t" r="r" b="b"/>
            <a:pathLst>
              <a:path w="8438976" h="7475193">
                <a:moveTo>
                  <a:pt x="0" y="0"/>
                </a:moveTo>
                <a:lnTo>
                  <a:pt x="8438976" y="0"/>
                </a:lnTo>
                <a:lnTo>
                  <a:pt x="8438976" y="7475193"/>
                </a:lnTo>
                <a:lnTo>
                  <a:pt x="0" y="7475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908242" y="7482709"/>
            <a:ext cx="8121957" cy="21870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39"/>
              </a:lnSpc>
            </a:pPr>
            <a:r>
              <a:rPr lang="en-US" sz="4171" dirty="0">
                <a:solidFill>
                  <a:srgbClr val="D9D9D9"/>
                </a:solidFill>
                <a:latin typeface="TAN Tangkiwood"/>
              </a:rPr>
              <a:t>Aryan Gahlot- S24CSEU0701</a:t>
            </a:r>
          </a:p>
          <a:p>
            <a:pPr algn="ctr">
              <a:lnSpc>
                <a:spcPts val="5839"/>
              </a:lnSpc>
            </a:pPr>
            <a:r>
              <a:rPr lang="en-US" sz="4171" dirty="0">
                <a:solidFill>
                  <a:srgbClr val="D9D9D9"/>
                </a:solidFill>
                <a:latin typeface="TAN Tangkiwood"/>
              </a:rPr>
              <a:t>Himanshu Kumar Singh-S24CSEU0721</a:t>
            </a:r>
          </a:p>
          <a:p>
            <a:pPr algn="ctr">
              <a:lnSpc>
                <a:spcPts val="5839"/>
              </a:lnSpc>
            </a:pPr>
            <a:r>
              <a:rPr lang="en-US" sz="4171" dirty="0">
                <a:solidFill>
                  <a:srgbClr val="D9D9D9"/>
                </a:solidFill>
                <a:latin typeface="TAN Tangkiwood"/>
              </a:rPr>
              <a:t>Harshit Gupta-S24CSEU0735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548509" y="159703"/>
            <a:ext cx="11190982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FFFFFF"/>
                </a:solidFill>
                <a:latin typeface="Canva Sans Bold"/>
              </a:rPr>
              <a:t>Problem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2285" y="3848100"/>
            <a:ext cx="17663430" cy="3218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30"/>
              </a:lnSpc>
              <a:spcBef>
                <a:spcPct val="0"/>
              </a:spcBef>
            </a:pPr>
            <a:r>
              <a:rPr lang="en-US" sz="3664" dirty="0">
                <a:solidFill>
                  <a:srgbClr val="EAEAEA"/>
                </a:solidFill>
                <a:latin typeface="Codec Pro"/>
              </a:rPr>
              <a:t>Adverse Drug Reactions (ADRs) or side effects are a major challenge in healthcare. Standard medical information provides a generic list of potential side effect for a drug. This approach fails for the higher degree of variability in patient response, as an individual’s risk is unique and heavily influenced by factors like age, gender, location and drug info.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318195" y="6207257"/>
            <a:ext cx="9856051" cy="8730429"/>
          </a:xfrm>
          <a:custGeom>
            <a:avLst/>
            <a:gdLst/>
            <a:ahLst/>
            <a:cxnLst/>
            <a:rect l="l" t="t" r="r" b="b"/>
            <a:pathLst>
              <a:path w="9856051" h="8730429">
                <a:moveTo>
                  <a:pt x="0" y="0"/>
                </a:moveTo>
                <a:lnTo>
                  <a:pt x="9856050" y="0"/>
                </a:lnTo>
                <a:lnTo>
                  <a:pt x="9856050" y="8730429"/>
                </a:lnTo>
                <a:lnTo>
                  <a:pt x="0" y="8730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4928025" y="-3336515"/>
            <a:ext cx="9856051" cy="8730429"/>
          </a:xfrm>
          <a:custGeom>
            <a:avLst/>
            <a:gdLst/>
            <a:ahLst/>
            <a:cxnLst/>
            <a:rect l="l" t="t" r="r" b="b"/>
            <a:pathLst>
              <a:path w="9856051" h="8730429">
                <a:moveTo>
                  <a:pt x="0" y="0"/>
                </a:moveTo>
                <a:lnTo>
                  <a:pt x="9856050" y="0"/>
                </a:lnTo>
                <a:lnTo>
                  <a:pt x="9856050" y="8730430"/>
                </a:lnTo>
                <a:lnTo>
                  <a:pt x="0" y="87304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96398" y="827799"/>
            <a:ext cx="17861725" cy="8846426"/>
            <a:chOff x="0" y="0"/>
            <a:chExt cx="4704323" cy="23299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04323" cy="2329923"/>
            </a:xfrm>
            <a:custGeom>
              <a:avLst/>
              <a:gdLst/>
              <a:ahLst/>
              <a:cxnLst/>
              <a:rect l="l" t="t" r="r" b="b"/>
              <a:pathLst>
                <a:path w="4704323" h="2329923">
                  <a:moveTo>
                    <a:pt x="0" y="0"/>
                  </a:moveTo>
                  <a:lnTo>
                    <a:pt x="4704323" y="0"/>
                  </a:lnTo>
                  <a:lnTo>
                    <a:pt x="4704323" y="2329923"/>
                  </a:lnTo>
                  <a:lnTo>
                    <a:pt x="0" y="2329923"/>
                  </a:lnTo>
                  <a:close/>
                </a:path>
              </a:pathLst>
            </a:custGeom>
            <a:solidFill>
              <a:srgbClr val="000000">
                <a:alpha val="57647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4704323" cy="2348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0218" y="876300"/>
            <a:ext cx="14927563" cy="1750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611"/>
              </a:lnSpc>
              <a:spcBef>
                <a:spcPct val="0"/>
              </a:spcBef>
            </a:pPr>
            <a:r>
              <a:rPr lang="en-US" sz="10509">
                <a:solidFill>
                  <a:srgbClr val="FFFFFF"/>
                </a:solidFill>
                <a:latin typeface="Codec Pro ExtraBold"/>
              </a:rPr>
              <a:t>PROPOSED SOLUTION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5907" y="2596653"/>
            <a:ext cx="17172601" cy="5598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98"/>
              </a:lnSpc>
            </a:pPr>
            <a:r>
              <a:rPr lang="en-IN" sz="4000" dirty="0">
                <a:solidFill>
                  <a:schemeClr val="bg1"/>
                </a:solidFill>
              </a:rPr>
              <a:t>Our solution is designed to directly address the problem of generic medical advice by delivering </a:t>
            </a:r>
            <a:r>
              <a:rPr lang="en-IN" sz="4000" b="1" dirty="0">
                <a:solidFill>
                  <a:schemeClr val="bg1"/>
                </a:solidFill>
              </a:rPr>
              <a:t>health answers based on a person's specific details.</a:t>
            </a:r>
          </a:p>
          <a:p>
            <a:pPr algn="just">
              <a:lnSpc>
                <a:spcPts val="5498"/>
              </a:lnSpc>
            </a:pPr>
            <a:endParaRPr lang="en-IN" sz="4000" b="1" dirty="0">
              <a:solidFill>
                <a:schemeClr val="bg1"/>
              </a:solidFill>
            </a:endParaRPr>
          </a:p>
          <a:p>
            <a:pPr marL="571500" indent="-571500" algn="just">
              <a:lnSpc>
                <a:spcPts val="5498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Personalized Side Effect Prediction:</a:t>
            </a:r>
            <a:r>
              <a:rPr lang="en-IN" sz="4000" dirty="0">
                <a:solidFill>
                  <a:schemeClr val="bg1"/>
                </a:solidFill>
              </a:rPr>
              <a:t> Instead of relying on generic lists, our project provides an personalized side effect.</a:t>
            </a:r>
          </a:p>
          <a:p>
            <a:pPr marL="571500" indent="-571500">
              <a:lnSpc>
                <a:spcPts val="5498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Intelligent Drug Alternatives Engine:</a:t>
            </a:r>
            <a:r>
              <a:rPr lang="en-IN" sz="4000" dirty="0">
                <a:solidFill>
                  <a:schemeClr val="bg1"/>
                </a:solidFill>
              </a:rPr>
              <a:t> For people who face a high predicted risk or are already experiencing side effects, our solution provides alternatives for drug.</a:t>
            </a:r>
            <a:endParaRPr lang="en-IN" sz="3927" dirty="0">
              <a:solidFill>
                <a:schemeClr val="bg1"/>
              </a:solidFill>
              <a:latin typeface="Codec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0"/>
            <a:ext cx="4513686" cy="11241465"/>
          </a:xfrm>
          <a:custGeom>
            <a:avLst/>
            <a:gdLst/>
            <a:ahLst/>
            <a:cxnLst/>
            <a:rect l="l" t="t" r="r" b="b"/>
            <a:pathLst>
              <a:path w="4513686" h="11241465">
                <a:moveTo>
                  <a:pt x="0" y="0"/>
                </a:moveTo>
                <a:lnTo>
                  <a:pt x="4513686" y="0"/>
                </a:lnTo>
                <a:lnTo>
                  <a:pt x="4513686" y="11241465"/>
                </a:lnTo>
                <a:lnTo>
                  <a:pt x="0" y="112414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491" r="-16462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322411" y="3988551"/>
            <a:ext cx="1838917" cy="1838917"/>
          </a:xfrm>
          <a:custGeom>
            <a:avLst/>
            <a:gdLst/>
            <a:ahLst/>
            <a:cxnLst/>
            <a:rect l="l" t="t" r="r" b="b"/>
            <a:pathLst>
              <a:path w="1838917" h="1838917">
                <a:moveTo>
                  <a:pt x="0" y="0"/>
                </a:moveTo>
                <a:lnTo>
                  <a:pt x="1838917" y="0"/>
                </a:lnTo>
                <a:lnTo>
                  <a:pt x="1838917" y="1838917"/>
                </a:lnTo>
                <a:lnTo>
                  <a:pt x="0" y="18389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550078" y="3988551"/>
            <a:ext cx="1838917" cy="1838917"/>
          </a:xfrm>
          <a:custGeom>
            <a:avLst/>
            <a:gdLst/>
            <a:ahLst/>
            <a:cxnLst/>
            <a:rect l="l" t="t" r="r" b="b"/>
            <a:pathLst>
              <a:path w="1838917" h="1838917">
                <a:moveTo>
                  <a:pt x="0" y="0"/>
                </a:moveTo>
                <a:lnTo>
                  <a:pt x="1838917" y="0"/>
                </a:lnTo>
                <a:lnTo>
                  <a:pt x="1838917" y="1838917"/>
                </a:lnTo>
                <a:lnTo>
                  <a:pt x="0" y="18389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002550" y="3988551"/>
            <a:ext cx="1838917" cy="1838917"/>
          </a:xfrm>
          <a:custGeom>
            <a:avLst/>
            <a:gdLst/>
            <a:ahLst/>
            <a:cxnLst/>
            <a:rect l="l" t="t" r="r" b="b"/>
            <a:pathLst>
              <a:path w="1838917" h="1838917">
                <a:moveTo>
                  <a:pt x="0" y="0"/>
                </a:moveTo>
                <a:lnTo>
                  <a:pt x="1838916" y="0"/>
                </a:lnTo>
                <a:lnTo>
                  <a:pt x="1838916" y="1838917"/>
                </a:lnTo>
                <a:lnTo>
                  <a:pt x="0" y="18389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698208" y="4350713"/>
            <a:ext cx="1087323" cy="886168"/>
          </a:xfrm>
          <a:custGeom>
            <a:avLst/>
            <a:gdLst/>
            <a:ahLst/>
            <a:cxnLst/>
            <a:rect l="l" t="t" r="r" b="b"/>
            <a:pathLst>
              <a:path w="1087323" h="886168">
                <a:moveTo>
                  <a:pt x="0" y="0"/>
                </a:moveTo>
                <a:lnTo>
                  <a:pt x="1087323" y="0"/>
                </a:lnTo>
                <a:lnTo>
                  <a:pt x="1087323" y="886168"/>
                </a:lnTo>
                <a:lnTo>
                  <a:pt x="0" y="8861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913567" y="4350713"/>
            <a:ext cx="1111938" cy="1109158"/>
          </a:xfrm>
          <a:custGeom>
            <a:avLst/>
            <a:gdLst/>
            <a:ahLst/>
            <a:cxnLst/>
            <a:rect l="l" t="t" r="r" b="b"/>
            <a:pathLst>
              <a:path w="1111938" h="1109158">
                <a:moveTo>
                  <a:pt x="0" y="0"/>
                </a:moveTo>
                <a:lnTo>
                  <a:pt x="1111939" y="0"/>
                </a:lnTo>
                <a:lnTo>
                  <a:pt x="1111939" y="1109158"/>
                </a:lnTo>
                <a:lnTo>
                  <a:pt x="0" y="11091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804775" y="1238118"/>
            <a:ext cx="7151036" cy="254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9536"/>
              </a:lnSpc>
              <a:spcBef>
                <a:spcPct val="0"/>
              </a:spcBef>
            </a:pPr>
            <a:r>
              <a:rPr lang="en-US" sz="7947">
                <a:solidFill>
                  <a:srgbClr val="1A1A1A"/>
                </a:solidFill>
                <a:latin typeface="Codec Pro ExtraBold"/>
              </a:rPr>
              <a:t>GOALS AND OBJECTIVES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04775" y="6029291"/>
            <a:ext cx="287418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Montserrat Light Bold"/>
              </a:rPr>
              <a:t>Empowering Users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6029291"/>
            <a:ext cx="287418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Montserrat Light Bold"/>
              </a:rPr>
              <a:t>Diverse Categories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84914" y="6027493"/>
            <a:ext cx="287418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Montserrat Light Bold"/>
              </a:rPr>
              <a:t>Incorporating AI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04775" y="6557083"/>
            <a:ext cx="2727161" cy="235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dirty="0">
                <a:solidFill>
                  <a:srgbClr val="010101"/>
                </a:solidFill>
                <a:latin typeface="Montserrat Light"/>
              </a:rPr>
              <a:t> Move beyond generic side effect lists and deliver the personalized risk and side effect predication.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41354" y="6557083"/>
            <a:ext cx="3076836" cy="2355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dirty="0">
                <a:solidFill>
                  <a:srgbClr val="010101"/>
                </a:solidFill>
                <a:latin typeface="Montserrat Light"/>
              </a:rPr>
              <a:t>Offer practical solution when a drug risk’s is too high and provide actionable medication alternatives.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89688" y="6557083"/>
            <a:ext cx="3336111" cy="2355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dirty="0">
                <a:solidFill>
                  <a:srgbClr val="010101"/>
                </a:solidFill>
                <a:latin typeface="Montserrat Light"/>
              </a:rPr>
              <a:t>Make complex medical data easy for anyone to access and understand to ensure accessibility through an intelligent assistant.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3409608" y="4462208"/>
            <a:ext cx="1087323" cy="886168"/>
          </a:xfrm>
          <a:custGeom>
            <a:avLst/>
            <a:gdLst/>
            <a:ahLst/>
            <a:cxnLst/>
            <a:rect l="l" t="t" r="r" b="b"/>
            <a:pathLst>
              <a:path w="1087323" h="886168">
                <a:moveTo>
                  <a:pt x="0" y="0"/>
                </a:moveTo>
                <a:lnTo>
                  <a:pt x="1087323" y="0"/>
                </a:lnTo>
                <a:lnTo>
                  <a:pt x="1087323" y="886168"/>
                </a:lnTo>
                <a:lnTo>
                  <a:pt x="0" y="8861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164105">
            <a:off x="-155673" y="-259907"/>
            <a:ext cx="19397009" cy="9907145"/>
            <a:chOff x="0" y="0"/>
            <a:chExt cx="5108677" cy="26092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08677" cy="2609289"/>
            </a:xfrm>
            <a:custGeom>
              <a:avLst/>
              <a:gdLst/>
              <a:ahLst/>
              <a:cxnLst/>
              <a:rect l="l" t="t" r="r" b="b"/>
              <a:pathLst>
                <a:path w="5108677" h="2609289">
                  <a:moveTo>
                    <a:pt x="0" y="0"/>
                  </a:moveTo>
                  <a:lnTo>
                    <a:pt x="5108677" y="0"/>
                  </a:lnTo>
                  <a:lnTo>
                    <a:pt x="5108677" y="2609289"/>
                  </a:lnTo>
                  <a:lnTo>
                    <a:pt x="0" y="2609289"/>
                  </a:lnTo>
                  <a:close/>
                </a:path>
              </a:pathLst>
            </a:custGeom>
            <a:solidFill>
              <a:srgbClr val="100F0D">
                <a:alpha val="9098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108677" cy="2628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891090" y="2624498"/>
            <a:ext cx="480284" cy="621727"/>
          </a:xfrm>
          <a:custGeom>
            <a:avLst/>
            <a:gdLst/>
            <a:ahLst/>
            <a:cxnLst/>
            <a:rect l="l" t="t" r="r" b="b"/>
            <a:pathLst>
              <a:path w="480284" h="621727">
                <a:moveTo>
                  <a:pt x="0" y="0"/>
                </a:moveTo>
                <a:lnTo>
                  <a:pt x="480284" y="0"/>
                </a:lnTo>
                <a:lnTo>
                  <a:pt x="480284" y="621727"/>
                </a:lnTo>
                <a:lnTo>
                  <a:pt x="0" y="621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770523" y="718864"/>
            <a:ext cx="10746953" cy="1591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0"/>
              </a:lnSpc>
            </a:pPr>
            <a:r>
              <a:rPr lang="en-US" sz="8600">
                <a:solidFill>
                  <a:srgbClr val="FFFFFF"/>
                </a:solidFill>
                <a:latin typeface="Codec Pro ExtraBold Bold"/>
              </a:rPr>
              <a:t>TECHNOLOGY USED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06550" y="2310173"/>
            <a:ext cx="14633850" cy="1782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399"/>
              </a:lnSpc>
            </a:pPr>
            <a:r>
              <a:rPr lang="en-US" sz="3999" dirty="0">
                <a:solidFill>
                  <a:srgbClr val="FFFFFF"/>
                </a:solidFill>
                <a:latin typeface="Codec Pro"/>
              </a:rPr>
              <a:t>Backend – </a:t>
            </a:r>
            <a:r>
              <a:rPr lang="en-US" sz="3999" dirty="0" err="1">
                <a:solidFill>
                  <a:srgbClr val="FFFFFF"/>
                </a:solidFill>
                <a:latin typeface="Codec Pro"/>
              </a:rPr>
              <a:t>FastApi</a:t>
            </a:r>
            <a:r>
              <a:rPr lang="en-US" sz="3999" dirty="0">
                <a:solidFill>
                  <a:srgbClr val="FFFFFF"/>
                </a:solidFill>
                <a:latin typeface="Codec Pro"/>
              </a:rPr>
              <a:t>, </a:t>
            </a:r>
            <a:r>
              <a:rPr lang="en-US" sz="3999" dirty="0" err="1">
                <a:solidFill>
                  <a:srgbClr val="FFFFFF"/>
                </a:solidFill>
                <a:latin typeface="Codec Pro"/>
              </a:rPr>
              <a:t>Uvicorn</a:t>
            </a:r>
            <a:r>
              <a:rPr lang="en-US" sz="3999" dirty="0">
                <a:solidFill>
                  <a:srgbClr val="FFFFFF"/>
                </a:solidFill>
                <a:latin typeface="Codec Pro"/>
              </a:rPr>
              <a:t>,  </a:t>
            </a:r>
          </a:p>
          <a:p>
            <a:pPr>
              <a:lnSpc>
                <a:spcPts val="7399"/>
              </a:lnSpc>
            </a:pPr>
            <a:endParaRPr lang="en-US" sz="3999" dirty="0">
              <a:solidFill>
                <a:srgbClr val="FFFFFF"/>
              </a:solidFill>
              <a:latin typeface="Codec Pro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2891090" y="3556901"/>
            <a:ext cx="480284" cy="621727"/>
          </a:xfrm>
          <a:custGeom>
            <a:avLst/>
            <a:gdLst/>
            <a:ahLst/>
            <a:cxnLst/>
            <a:rect l="l" t="t" r="r" b="b"/>
            <a:pathLst>
              <a:path w="480284" h="621727">
                <a:moveTo>
                  <a:pt x="0" y="0"/>
                </a:moveTo>
                <a:lnTo>
                  <a:pt x="480284" y="0"/>
                </a:lnTo>
                <a:lnTo>
                  <a:pt x="480284" y="621726"/>
                </a:lnTo>
                <a:lnTo>
                  <a:pt x="0" y="6217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891090" y="4489303"/>
            <a:ext cx="480284" cy="621727"/>
          </a:xfrm>
          <a:custGeom>
            <a:avLst/>
            <a:gdLst/>
            <a:ahLst/>
            <a:cxnLst/>
            <a:rect l="l" t="t" r="r" b="b"/>
            <a:pathLst>
              <a:path w="480284" h="621727">
                <a:moveTo>
                  <a:pt x="0" y="0"/>
                </a:moveTo>
                <a:lnTo>
                  <a:pt x="480284" y="0"/>
                </a:lnTo>
                <a:lnTo>
                  <a:pt x="480284" y="621727"/>
                </a:lnTo>
                <a:lnTo>
                  <a:pt x="0" y="621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891090" y="5425355"/>
            <a:ext cx="480284" cy="621727"/>
          </a:xfrm>
          <a:custGeom>
            <a:avLst/>
            <a:gdLst/>
            <a:ahLst/>
            <a:cxnLst/>
            <a:rect l="l" t="t" r="r" b="b"/>
            <a:pathLst>
              <a:path w="480284" h="621727">
                <a:moveTo>
                  <a:pt x="0" y="0"/>
                </a:moveTo>
                <a:lnTo>
                  <a:pt x="480284" y="0"/>
                </a:lnTo>
                <a:lnTo>
                  <a:pt x="480284" y="621727"/>
                </a:lnTo>
                <a:lnTo>
                  <a:pt x="0" y="621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3806550" y="3414026"/>
            <a:ext cx="13871850" cy="20969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9"/>
              </a:lnSpc>
            </a:pPr>
            <a:r>
              <a:rPr lang="en-US" sz="3999" dirty="0">
                <a:solidFill>
                  <a:srgbClr val="FFFFFF"/>
                </a:solidFill>
                <a:latin typeface="Codec Pro"/>
              </a:rPr>
              <a:t>Frontend – HTML, CSS, JavaScript, Jinja2  </a:t>
            </a:r>
          </a:p>
          <a:p>
            <a:pPr>
              <a:lnSpc>
                <a:spcPts val="5599"/>
              </a:lnSpc>
            </a:pPr>
            <a:endParaRPr lang="en-US" sz="3999" dirty="0">
              <a:solidFill>
                <a:srgbClr val="FFFFFF"/>
              </a:solidFill>
              <a:latin typeface="Codec Pro"/>
            </a:endParaRPr>
          </a:p>
          <a:p>
            <a:pPr>
              <a:lnSpc>
                <a:spcPts val="5599"/>
              </a:lnSpc>
            </a:pPr>
            <a:endParaRPr lang="en-US" sz="3999" dirty="0">
              <a:solidFill>
                <a:srgbClr val="FFFFFF"/>
              </a:solidFill>
              <a:latin typeface="Codec Pr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718578" y="4346428"/>
            <a:ext cx="14916626" cy="13787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9"/>
              </a:lnSpc>
            </a:pPr>
            <a:r>
              <a:rPr lang="en-US" sz="3999" dirty="0">
                <a:solidFill>
                  <a:srgbClr val="FFFFFF"/>
                </a:solidFill>
                <a:latin typeface="Codec Pro"/>
              </a:rPr>
              <a:t>Database &amp; Auth – Firebase Auth, Cloud </a:t>
            </a:r>
            <a:r>
              <a:rPr lang="en-US" sz="3999" dirty="0" err="1">
                <a:solidFill>
                  <a:srgbClr val="FFFFFF"/>
                </a:solidFill>
                <a:latin typeface="Codec Pro"/>
              </a:rPr>
              <a:t>FireStore</a:t>
            </a:r>
            <a:endParaRPr lang="en-US" sz="3999" dirty="0">
              <a:solidFill>
                <a:srgbClr val="FFFFFF"/>
              </a:solidFill>
              <a:latin typeface="Codec Pro"/>
            </a:endParaRPr>
          </a:p>
          <a:p>
            <a:pPr algn="ctr">
              <a:lnSpc>
                <a:spcPts val="5599"/>
              </a:lnSpc>
            </a:pPr>
            <a:endParaRPr lang="en-US" sz="3999" dirty="0">
              <a:solidFill>
                <a:srgbClr val="FFFFFF"/>
              </a:solidFill>
              <a:latin typeface="Codec Pro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718578" y="5426976"/>
            <a:ext cx="14721822" cy="2155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9"/>
              </a:lnSpc>
            </a:pPr>
            <a:r>
              <a:rPr lang="en-US" sz="3999" dirty="0">
                <a:solidFill>
                  <a:srgbClr val="FFFFFF"/>
                </a:solidFill>
                <a:latin typeface="Codec Pro"/>
              </a:rPr>
              <a:t>AI/ML – Scikit-learn, Pandas, </a:t>
            </a:r>
            <a:r>
              <a:rPr lang="en-US" sz="3999" dirty="0" err="1">
                <a:solidFill>
                  <a:srgbClr val="FFFFFF"/>
                </a:solidFill>
                <a:latin typeface="Codec Pro"/>
              </a:rPr>
              <a:t>Joblib</a:t>
            </a:r>
            <a:r>
              <a:rPr lang="en-US" sz="3999" dirty="0">
                <a:solidFill>
                  <a:srgbClr val="FFFFFF"/>
                </a:solidFill>
                <a:latin typeface="Codec Pro"/>
              </a:rPr>
              <a:t>, Matplotlib</a:t>
            </a:r>
          </a:p>
          <a:p>
            <a:pPr algn="ctr">
              <a:lnSpc>
                <a:spcPts val="5599"/>
              </a:lnSpc>
            </a:pPr>
            <a:endParaRPr lang="en-US" sz="3999" dirty="0">
              <a:solidFill>
                <a:srgbClr val="FFFFFF"/>
              </a:solidFill>
              <a:latin typeface="Codec Pro"/>
            </a:endParaRPr>
          </a:p>
          <a:p>
            <a:pPr algn="ctr">
              <a:lnSpc>
                <a:spcPts val="5599"/>
              </a:lnSpc>
            </a:pPr>
            <a:endParaRPr lang="en-US" sz="3999" dirty="0">
              <a:solidFill>
                <a:srgbClr val="FFFFFF"/>
              </a:solidFill>
              <a:latin typeface="Codec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18195" y="6207257"/>
            <a:ext cx="9856051" cy="8730429"/>
          </a:xfrm>
          <a:custGeom>
            <a:avLst/>
            <a:gdLst/>
            <a:ahLst/>
            <a:cxnLst/>
            <a:rect l="l" t="t" r="r" b="b"/>
            <a:pathLst>
              <a:path w="9856051" h="8730429">
                <a:moveTo>
                  <a:pt x="0" y="0"/>
                </a:moveTo>
                <a:lnTo>
                  <a:pt x="9856050" y="0"/>
                </a:lnTo>
                <a:lnTo>
                  <a:pt x="9856050" y="8730429"/>
                </a:lnTo>
                <a:lnTo>
                  <a:pt x="0" y="8730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3043395" y="-5505610"/>
            <a:ext cx="11239421" cy="9955810"/>
          </a:xfrm>
          <a:custGeom>
            <a:avLst/>
            <a:gdLst/>
            <a:ahLst/>
            <a:cxnLst/>
            <a:rect l="l" t="t" r="r" b="b"/>
            <a:pathLst>
              <a:path w="11239421" h="9955810">
                <a:moveTo>
                  <a:pt x="0" y="0"/>
                </a:moveTo>
                <a:lnTo>
                  <a:pt x="11239421" y="0"/>
                </a:lnTo>
                <a:lnTo>
                  <a:pt x="11239421" y="9955810"/>
                </a:lnTo>
                <a:lnTo>
                  <a:pt x="0" y="9955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711106" y="4271884"/>
            <a:ext cx="9607484" cy="187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49"/>
              </a:lnSpc>
            </a:pPr>
            <a:r>
              <a:rPr lang="en-US" sz="6000" dirty="0">
                <a:solidFill>
                  <a:srgbClr val="1A1A1A"/>
                </a:solidFill>
                <a:latin typeface="Codec Pro ExtraBold"/>
              </a:rPr>
              <a:t>KEY FEATURES </a:t>
            </a:r>
          </a:p>
          <a:p>
            <a:pPr algn="ctr">
              <a:lnSpc>
                <a:spcPts val="7349"/>
              </a:lnSpc>
            </a:pPr>
            <a:r>
              <a:rPr lang="en-US" sz="6000" dirty="0">
                <a:solidFill>
                  <a:srgbClr val="1A1A1A"/>
                </a:solidFill>
                <a:latin typeface="Codec Pro ExtraBold"/>
              </a:rPr>
              <a:t>OF MEDSCOPE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363200" y="68305"/>
            <a:ext cx="4543976" cy="4155572"/>
            <a:chOff x="0" y="0"/>
            <a:chExt cx="895438" cy="9272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95438" cy="927233"/>
            </a:xfrm>
            <a:custGeom>
              <a:avLst/>
              <a:gdLst/>
              <a:ahLst/>
              <a:cxnLst/>
              <a:rect l="l" t="t" r="r" b="b"/>
              <a:pathLst>
                <a:path w="895438" h="927233">
                  <a:moveTo>
                    <a:pt x="447719" y="0"/>
                  </a:moveTo>
                  <a:cubicBezTo>
                    <a:pt x="200451" y="0"/>
                    <a:pt x="0" y="207568"/>
                    <a:pt x="0" y="463617"/>
                  </a:cubicBezTo>
                  <a:cubicBezTo>
                    <a:pt x="0" y="719665"/>
                    <a:pt x="200451" y="927233"/>
                    <a:pt x="447719" y="927233"/>
                  </a:cubicBezTo>
                  <a:cubicBezTo>
                    <a:pt x="694987" y="927233"/>
                    <a:pt x="895438" y="719665"/>
                    <a:pt x="895438" y="463617"/>
                  </a:cubicBezTo>
                  <a:cubicBezTo>
                    <a:pt x="895438" y="207568"/>
                    <a:pt x="694987" y="0"/>
                    <a:pt x="44771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3947" y="67878"/>
              <a:ext cx="727543" cy="7724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741620" y="957344"/>
            <a:ext cx="3994030" cy="2341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03"/>
              </a:lnSpc>
            </a:pPr>
            <a:r>
              <a:rPr lang="en-US" sz="2400" dirty="0">
                <a:solidFill>
                  <a:srgbClr val="FFFFFF"/>
                </a:solidFill>
                <a:latin typeface="Noto Sans Bold"/>
              </a:rPr>
              <a:t>Drug alternatives </a:t>
            </a:r>
          </a:p>
          <a:p>
            <a:pPr algn="ctr">
              <a:lnSpc>
                <a:spcPts val="3703"/>
              </a:lnSpc>
            </a:pPr>
            <a:r>
              <a:rPr lang="en-US" sz="2400" dirty="0">
                <a:solidFill>
                  <a:srgbClr val="FFFFFF"/>
                </a:solidFill>
                <a:latin typeface="Noto Sans Bold"/>
              </a:rPr>
              <a:t>Engine</a:t>
            </a:r>
            <a:r>
              <a:rPr lang="en-US" sz="2645" dirty="0">
                <a:solidFill>
                  <a:srgbClr val="FFFFFF"/>
                </a:solidFill>
                <a:latin typeface="Noto Sans Bold"/>
              </a:rPr>
              <a:t>:</a:t>
            </a:r>
            <a:endParaRPr lang="en-US" sz="2645" dirty="0">
              <a:solidFill>
                <a:srgbClr val="FFFFFF"/>
              </a:solidFill>
              <a:latin typeface="Noto Sans"/>
            </a:endParaRPr>
          </a:p>
          <a:p>
            <a:pPr algn="ctr">
              <a:lnSpc>
                <a:spcPts val="3703"/>
              </a:lnSpc>
            </a:pPr>
            <a:r>
              <a:rPr lang="en-US" sz="2200" dirty="0">
                <a:solidFill>
                  <a:srgbClr val="FFFFFF"/>
                </a:solidFill>
                <a:latin typeface="+mj-lt"/>
              </a:rPr>
              <a:t>It includes a tool to find alternative medications for a given medical indications</a:t>
            </a:r>
            <a:r>
              <a:rPr lang="en-US" sz="2645" dirty="0">
                <a:solidFill>
                  <a:srgbClr val="FFFFFF"/>
                </a:solidFill>
                <a:latin typeface="+mj-lt"/>
              </a:rPr>
              <a:t>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649889" y="11268"/>
            <a:ext cx="4801210" cy="4470317"/>
            <a:chOff x="0" y="0"/>
            <a:chExt cx="895438" cy="9272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95438" cy="927233"/>
            </a:xfrm>
            <a:custGeom>
              <a:avLst/>
              <a:gdLst/>
              <a:ahLst/>
              <a:cxnLst/>
              <a:rect l="l" t="t" r="r" b="b"/>
              <a:pathLst>
                <a:path w="895438" h="927233">
                  <a:moveTo>
                    <a:pt x="447719" y="0"/>
                  </a:moveTo>
                  <a:cubicBezTo>
                    <a:pt x="200451" y="0"/>
                    <a:pt x="0" y="207568"/>
                    <a:pt x="0" y="463617"/>
                  </a:cubicBezTo>
                  <a:cubicBezTo>
                    <a:pt x="0" y="719665"/>
                    <a:pt x="200451" y="927233"/>
                    <a:pt x="447719" y="927233"/>
                  </a:cubicBezTo>
                  <a:cubicBezTo>
                    <a:pt x="694987" y="927233"/>
                    <a:pt x="895438" y="719665"/>
                    <a:pt x="895438" y="463617"/>
                  </a:cubicBezTo>
                  <a:cubicBezTo>
                    <a:pt x="895438" y="207568"/>
                    <a:pt x="694987" y="0"/>
                    <a:pt x="44771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947" y="67878"/>
              <a:ext cx="727543" cy="7724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724140" y="892708"/>
            <a:ext cx="4801210" cy="34567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7"/>
              </a:lnSpc>
            </a:pPr>
            <a:r>
              <a:rPr lang="en-US" sz="2400" dirty="0">
                <a:solidFill>
                  <a:schemeClr val="bg1"/>
                </a:solidFill>
                <a:latin typeface="Noto Sans Bold"/>
              </a:rPr>
              <a:t>ML Side Effect Prediction</a:t>
            </a:r>
            <a:r>
              <a:rPr lang="en-US" sz="2200" dirty="0">
                <a:solidFill>
                  <a:schemeClr val="bg1"/>
                </a:solidFill>
                <a:latin typeface="Noto Sans Bold"/>
              </a:rPr>
              <a:t>:</a:t>
            </a:r>
            <a:r>
              <a:rPr lang="en-US" sz="2200" dirty="0">
                <a:solidFill>
                  <a:schemeClr val="bg1"/>
                </a:solidFill>
                <a:latin typeface="Noto Sans"/>
              </a:rPr>
              <a:t>  </a:t>
            </a:r>
          </a:p>
          <a:p>
            <a:pPr algn="ctr">
              <a:lnSpc>
                <a:spcPts val="3917"/>
              </a:lnSpc>
            </a:pPr>
            <a:r>
              <a:rPr lang="en-IN" sz="2400" dirty="0">
                <a:solidFill>
                  <a:schemeClr val="bg1"/>
                </a:solidFill>
              </a:rPr>
              <a:t>It uses pre-trained </a:t>
            </a:r>
            <a:r>
              <a:rPr lang="en-IN" sz="2400" b="1" dirty="0">
                <a:solidFill>
                  <a:schemeClr val="bg1"/>
                </a:solidFill>
              </a:rPr>
              <a:t>scikit-learn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</a:p>
          <a:p>
            <a:pPr algn="ctr">
              <a:lnSpc>
                <a:spcPts val="3917"/>
              </a:lnSpc>
            </a:pPr>
            <a:r>
              <a:rPr lang="en-IN" sz="2400" dirty="0">
                <a:solidFill>
                  <a:schemeClr val="bg1"/>
                </a:solidFill>
              </a:rPr>
              <a:t>models to predict potential drug risk profiles and side effects for a user based on their specific </a:t>
            </a:r>
          </a:p>
          <a:p>
            <a:pPr algn="ctr">
              <a:lnSpc>
                <a:spcPts val="3917"/>
              </a:lnSpc>
            </a:pPr>
            <a:r>
              <a:rPr lang="en-IN" sz="2400" dirty="0">
                <a:solidFill>
                  <a:schemeClr val="bg1"/>
                </a:solidFill>
              </a:rPr>
              <a:t>demographic and drug </a:t>
            </a:r>
          </a:p>
          <a:p>
            <a:pPr algn="ctr">
              <a:lnSpc>
                <a:spcPts val="3917"/>
              </a:lnSpc>
            </a:pPr>
            <a:r>
              <a:rPr lang="en-IN" sz="2400" dirty="0">
                <a:solidFill>
                  <a:schemeClr val="bg1"/>
                </a:solidFill>
              </a:rPr>
              <a:t>Details.</a:t>
            </a:r>
            <a:endParaRPr lang="en-US" sz="2200" dirty="0">
              <a:solidFill>
                <a:schemeClr val="bg1"/>
              </a:solidFill>
              <a:latin typeface="Noto Sans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1530908" y="4926132"/>
            <a:ext cx="5121020" cy="5114281"/>
            <a:chOff x="0" y="0"/>
            <a:chExt cx="895438" cy="92723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95438" cy="927233"/>
            </a:xfrm>
            <a:custGeom>
              <a:avLst/>
              <a:gdLst/>
              <a:ahLst/>
              <a:cxnLst/>
              <a:rect l="l" t="t" r="r" b="b"/>
              <a:pathLst>
                <a:path w="895438" h="927233">
                  <a:moveTo>
                    <a:pt x="447719" y="0"/>
                  </a:moveTo>
                  <a:cubicBezTo>
                    <a:pt x="200451" y="0"/>
                    <a:pt x="0" y="207568"/>
                    <a:pt x="0" y="463617"/>
                  </a:cubicBezTo>
                  <a:cubicBezTo>
                    <a:pt x="0" y="719665"/>
                    <a:pt x="200451" y="927233"/>
                    <a:pt x="447719" y="927233"/>
                  </a:cubicBezTo>
                  <a:cubicBezTo>
                    <a:pt x="694987" y="927233"/>
                    <a:pt x="895438" y="719665"/>
                    <a:pt x="895438" y="463617"/>
                  </a:cubicBezTo>
                  <a:cubicBezTo>
                    <a:pt x="895438" y="207568"/>
                    <a:pt x="694987" y="0"/>
                    <a:pt x="44771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947" y="67878"/>
              <a:ext cx="727543" cy="7724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824171" y="5699157"/>
            <a:ext cx="4493719" cy="37641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73"/>
              </a:lnSpc>
            </a:pPr>
            <a:r>
              <a:rPr lang="en-US" sz="2400" dirty="0">
                <a:solidFill>
                  <a:srgbClr val="FFFFFF"/>
                </a:solidFill>
                <a:latin typeface="Noto Sans Bold"/>
              </a:rPr>
              <a:t>Intelligent Tool </a:t>
            </a:r>
          </a:p>
          <a:p>
            <a:pPr algn="ctr">
              <a:lnSpc>
                <a:spcPts val="3673"/>
              </a:lnSpc>
            </a:pPr>
            <a:r>
              <a:rPr lang="en-US" sz="2400" dirty="0">
                <a:solidFill>
                  <a:srgbClr val="FFFFFF"/>
                </a:solidFill>
                <a:latin typeface="Noto Sans Bold"/>
              </a:rPr>
              <a:t>Integration: </a:t>
            </a:r>
          </a:p>
          <a:p>
            <a:pPr algn="ctr">
              <a:lnSpc>
                <a:spcPts val="3673"/>
              </a:lnSpc>
            </a:pPr>
            <a:r>
              <a:rPr lang="en-US" sz="2200" dirty="0">
                <a:solidFill>
                  <a:srgbClr val="FFFFFF"/>
                </a:solidFill>
                <a:latin typeface="+mj-lt"/>
              </a:rPr>
              <a:t>The chatbot is built to intelligently decide when it needs to call the internal  ‘</a:t>
            </a:r>
            <a:r>
              <a:rPr lang="en-US" sz="2200" dirty="0" err="1">
                <a:solidFill>
                  <a:srgbClr val="FFFFFF"/>
                </a:solidFill>
                <a:latin typeface="+mj-lt"/>
              </a:rPr>
              <a:t>predict_side_effect</a:t>
            </a:r>
            <a:r>
              <a:rPr lang="en-US" sz="2200" dirty="0">
                <a:solidFill>
                  <a:srgbClr val="FFFFFF"/>
                </a:solidFill>
                <a:latin typeface="+mj-lt"/>
              </a:rPr>
              <a:t>’  or ‘</a:t>
            </a:r>
            <a:r>
              <a:rPr lang="en-US" sz="2200" dirty="0" err="1">
                <a:solidFill>
                  <a:srgbClr val="FFFFFF"/>
                </a:solidFill>
                <a:latin typeface="+mj-lt"/>
              </a:rPr>
              <a:t>find_alternatives</a:t>
            </a:r>
            <a:r>
              <a:rPr lang="en-US" sz="2200" dirty="0">
                <a:solidFill>
                  <a:srgbClr val="FFFFFF"/>
                </a:solidFill>
                <a:latin typeface="+mj-lt"/>
              </a:rPr>
              <a:t>’ tools to get data for its response.</a:t>
            </a:r>
          </a:p>
          <a:p>
            <a:pPr algn="ctr">
              <a:lnSpc>
                <a:spcPts val="3673"/>
              </a:lnSpc>
            </a:pPr>
            <a:endParaRPr lang="en-US" sz="2623" dirty="0">
              <a:solidFill>
                <a:srgbClr val="FFFFFF"/>
              </a:solidFill>
              <a:latin typeface="Noto Sans Bol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6000982" y="6144191"/>
            <a:ext cx="4543976" cy="4127688"/>
            <a:chOff x="0" y="0"/>
            <a:chExt cx="895438" cy="9272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95438" cy="927233"/>
            </a:xfrm>
            <a:custGeom>
              <a:avLst/>
              <a:gdLst/>
              <a:ahLst/>
              <a:cxnLst/>
              <a:rect l="l" t="t" r="r" b="b"/>
              <a:pathLst>
                <a:path w="895438" h="927233">
                  <a:moveTo>
                    <a:pt x="447719" y="0"/>
                  </a:moveTo>
                  <a:cubicBezTo>
                    <a:pt x="200451" y="0"/>
                    <a:pt x="0" y="207568"/>
                    <a:pt x="0" y="463617"/>
                  </a:cubicBezTo>
                  <a:cubicBezTo>
                    <a:pt x="0" y="719665"/>
                    <a:pt x="200451" y="927233"/>
                    <a:pt x="447719" y="927233"/>
                  </a:cubicBezTo>
                  <a:cubicBezTo>
                    <a:pt x="694987" y="927233"/>
                    <a:pt x="895438" y="719665"/>
                    <a:pt x="895438" y="463617"/>
                  </a:cubicBezTo>
                  <a:cubicBezTo>
                    <a:pt x="895438" y="207568"/>
                    <a:pt x="694987" y="0"/>
                    <a:pt x="44771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947" y="67878"/>
              <a:ext cx="727543" cy="7724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427387" y="6717326"/>
            <a:ext cx="3765638" cy="2513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26"/>
              </a:lnSpc>
            </a:pPr>
            <a:r>
              <a:rPr lang="en-US" sz="2376" dirty="0">
                <a:solidFill>
                  <a:srgbClr val="FFFFFF"/>
                </a:solidFill>
                <a:latin typeface="Noto Sans Bold"/>
              </a:rPr>
              <a:t>Secure User Management:</a:t>
            </a:r>
            <a:r>
              <a:rPr lang="en-US" sz="2376" dirty="0">
                <a:solidFill>
                  <a:srgbClr val="FFFFFF"/>
                </a:solidFill>
                <a:latin typeface="Noto Sans"/>
              </a:rPr>
              <a:t> </a:t>
            </a:r>
          </a:p>
          <a:p>
            <a:pPr algn="ctr">
              <a:lnSpc>
                <a:spcPts val="3326"/>
              </a:lnSpc>
            </a:pPr>
            <a:r>
              <a:rPr lang="en-US" sz="2376" dirty="0">
                <a:solidFill>
                  <a:srgbClr val="FFFFFF"/>
                </a:solidFill>
                <a:latin typeface="+mj-lt"/>
              </a:rPr>
              <a:t>The system handles secure user creation and login using firebase auth and saves user data to cloud firebase</a:t>
            </a:r>
            <a:r>
              <a:rPr lang="en-US" sz="2376" dirty="0">
                <a:solidFill>
                  <a:srgbClr val="FFFFFF"/>
                </a:solidFill>
                <a:latin typeface="Noto Sans"/>
              </a:rPr>
              <a:t>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43758" y="5155295"/>
            <a:ext cx="4801209" cy="4753621"/>
            <a:chOff x="0" y="0"/>
            <a:chExt cx="895438" cy="92723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95438" cy="927233"/>
            </a:xfrm>
            <a:custGeom>
              <a:avLst/>
              <a:gdLst/>
              <a:ahLst/>
              <a:cxnLst/>
              <a:rect l="l" t="t" r="r" b="b"/>
              <a:pathLst>
                <a:path w="895438" h="927233">
                  <a:moveTo>
                    <a:pt x="447719" y="0"/>
                  </a:moveTo>
                  <a:cubicBezTo>
                    <a:pt x="200451" y="0"/>
                    <a:pt x="0" y="207568"/>
                    <a:pt x="0" y="463617"/>
                  </a:cubicBezTo>
                  <a:cubicBezTo>
                    <a:pt x="0" y="719665"/>
                    <a:pt x="200451" y="927233"/>
                    <a:pt x="447719" y="927233"/>
                  </a:cubicBezTo>
                  <a:cubicBezTo>
                    <a:pt x="694987" y="927233"/>
                    <a:pt x="895438" y="719665"/>
                    <a:pt x="895438" y="463617"/>
                  </a:cubicBezTo>
                  <a:cubicBezTo>
                    <a:pt x="895438" y="207568"/>
                    <a:pt x="694987" y="0"/>
                    <a:pt x="44771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947" y="67878"/>
              <a:ext cx="727543" cy="7724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690932" y="6144191"/>
            <a:ext cx="3664860" cy="2748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</a:pPr>
            <a:r>
              <a:rPr lang="en-US" sz="2599" dirty="0">
                <a:solidFill>
                  <a:schemeClr val="bg1"/>
                </a:solidFill>
                <a:latin typeface="Noto Sans Bold"/>
              </a:rPr>
              <a:t>AI Medical Assistant:</a:t>
            </a:r>
          </a:p>
          <a:p>
            <a:pPr algn="ctr">
              <a:lnSpc>
                <a:spcPts val="3638"/>
              </a:lnSpc>
            </a:pPr>
            <a:r>
              <a:rPr lang="en-IN" sz="2400" dirty="0">
                <a:solidFill>
                  <a:schemeClr val="bg1"/>
                </a:solidFill>
              </a:rPr>
              <a:t>The project features a conversational chatbot endpoint ‘/chat’ that is powered by Google’s </a:t>
            </a:r>
          </a:p>
          <a:p>
            <a:pPr algn="ctr">
              <a:lnSpc>
                <a:spcPts val="3638"/>
              </a:lnSpc>
            </a:pPr>
            <a:r>
              <a:rPr lang="en-IN" sz="2400" dirty="0">
                <a:solidFill>
                  <a:schemeClr val="bg1"/>
                </a:solidFill>
              </a:rPr>
              <a:t>Gemini AI.</a:t>
            </a:r>
            <a:endParaRPr lang="en-US" sz="2400" dirty="0">
              <a:solidFill>
                <a:schemeClr val="bg1"/>
              </a:solidFill>
              <a:latin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895600" y="159703"/>
            <a:ext cx="11145887" cy="1545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FFFFFF"/>
                </a:solidFill>
                <a:latin typeface="Canva Sans Bold"/>
              </a:rPr>
              <a:t>Future Prospects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6912" y="1704998"/>
            <a:ext cx="17081488" cy="2107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5599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Integrate Drug-Drug Interaction (DDI) Prediction:</a:t>
            </a:r>
            <a:r>
              <a:rPr lang="en-IN" sz="4000" dirty="0">
                <a:solidFill>
                  <a:schemeClr val="bg1"/>
                </a:solidFill>
              </a:rPr>
              <a:t> Introduce a new model (HODDI dataset) to warn users if their new medication interacts negatively with other drugs they might be taking. This adds a critical layer of safety analysis</a:t>
            </a:r>
            <a:endParaRPr lang="en-US" sz="3999" dirty="0">
              <a:solidFill>
                <a:schemeClr val="bg1"/>
              </a:solidFill>
              <a:latin typeface="Codec Pro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6912" y="6381343"/>
            <a:ext cx="14556804" cy="2107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lnSpc>
                <a:spcPts val="5599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Incorporate User Medical History</a:t>
            </a:r>
            <a:r>
              <a:rPr lang="en-IN" sz="4000" dirty="0">
                <a:solidFill>
                  <a:schemeClr val="bg1"/>
                </a:solidFill>
              </a:rPr>
              <a:t>: Enhance the "ML Side Effect Prediction" feature by allowing users to (securely) add their medical history (</a:t>
            </a:r>
            <a:r>
              <a:rPr lang="en-IN" sz="4000" dirty="0" err="1">
                <a:solidFill>
                  <a:schemeClr val="bg1"/>
                </a:solidFill>
              </a:rPr>
              <a:t>eg</a:t>
            </a:r>
            <a:r>
              <a:rPr lang="en-IN" sz="4000" dirty="0">
                <a:solidFill>
                  <a:schemeClr val="bg1"/>
                </a:solidFill>
              </a:rPr>
              <a:t>- allergies, pre-existing conditions).</a:t>
            </a:r>
            <a:endParaRPr lang="en-US" sz="3999" dirty="0">
              <a:solidFill>
                <a:schemeClr val="bg1"/>
              </a:solidFill>
              <a:latin typeface="Codec Pr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65381" y="4089782"/>
            <a:ext cx="17678400" cy="2107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5599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Expand and Diversify Datasets:</a:t>
            </a:r>
            <a:r>
              <a:rPr lang="en-IN" sz="4000" dirty="0">
                <a:solidFill>
                  <a:schemeClr val="bg1"/>
                </a:solidFill>
              </a:rPr>
              <a:t> Improve the performance and accuracy of the core ML models by training them on larger, more diverse patient datasets. This will make predictions more reliable across different populations.</a:t>
            </a:r>
            <a:endParaRPr lang="en-US" sz="3999" dirty="0">
              <a:solidFill>
                <a:schemeClr val="bg1"/>
              </a:solidFill>
              <a:latin typeface="Codec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390906" y="6134546"/>
            <a:ext cx="9856051" cy="8730429"/>
          </a:xfrm>
          <a:custGeom>
            <a:avLst/>
            <a:gdLst/>
            <a:ahLst/>
            <a:cxnLst/>
            <a:rect l="l" t="t" r="r" b="b"/>
            <a:pathLst>
              <a:path w="9856051" h="8730429">
                <a:moveTo>
                  <a:pt x="0" y="0"/>
                </a:moveTo>
                <a:lnTo>
                  <a:pt x="9856051" y="0"/>
                </a:lnTo>
                <a:lnTo>
                  <a:pt x="9856051" y="8730429"/>
                </a:lnTo>
                <a:lnTo>
                  <a:pt x="0" y="8730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4219488" y="-4493967"/>
            <a:ext cx="8438976" cy="7475193"/>
          </a:xfrm>
          <a:custGeom>
            <a:avLst/>
            <a:gdLst/>
            <a:ahLst/>
            <a:cxnLst/>
            <a:rect l="l" t="t" r="r" b="b"/>
            <a:pathLst>
              <a:path w="8438976" h="7475193">
                <a:moveTo>
                  <a:pt x="0" y="0"/>
                </a:moveTo>
                <a:lnTo>
                  <a:pt x="8438976" y="0"/>
                </a:lnTo>
                <a:lnTo>
                  <a:pt x="8438976" y="7475193"/>
                </a:lnTo>
                <a:lnTo>
                  <a:pt x="0" y="7475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380383" y="3545482"/>
            <a:ext cx="11536383" cy="2874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47"/>
              </a:lnSpc>
            </a:pPr>
            <a:r>
              <a:rPr lang="en-US" sz="16819">
                <a:solidFill>
                  <a:srgbClr val="FFFFFF"/>
                </a:solidFill>
                <a:latin typeface="Canva Sa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502</Words>
  <Application>Microsoft Macintosh PowerPoint</Application>
  <PresentationFormat>Custom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Codec Pro</vt:lpstr>
      <vt:lpstr>Arial</vt:lpstr>
      <vt:lpstr>Noto Sans Bold</vt:lpstr>
      <vt:lpstr>Montserrat Light</vt:lpstr>
      <vt:lpstr>Noto Sans</vt:lpstr>
      <vt:lpstr>Codec Pro ExtraBold Bold</vt:lpstr>
      <vt:lpstr>TAN Tangkiwood</vt:lpstr>
      <vt:lpstr>Montserrat Light Bold</vt:lpstr>
      <vt:lpstr>Canva Sans Bold</vt:lpstr>
      <vt:lpstr>Calibri</vt:lpstr>
      <vt:lpstr>Codec Pro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modern professional business proposal presentation</dc:title>
  <cp:lastModifiedBy>ARYAN GAHLOT</cp:lastModifiedBy>
  <cp:revision>7</cp:revision>
  <dcterms:created xsi:type="dcterms:W3CDTF">2006-08-16T00:00:00Z</dcterms:created>
  <dcterms:modified xsi:type="dcterms:W3CDTF">2025-11-12T09:48:22Z</dcterms:modified>
  <dc:identifier>DAFzN0FU5d4</dc:identifier>
</cp:coreProperties>
</file>